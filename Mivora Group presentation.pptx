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6EB-40E0-8E42-A9AE2C9BE07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6EB-40E0-8E42-A9AE2C9BE07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6EB-40E0-8E42-A9AE2C9BE07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6EB-40E0-8E42-A9AE2C9BE073}"/>
              </c:ext>
            </c:extLst>
          </c:dPt>
          <c:cat>
            <c:strRef>
              <c:f>Sheet1!$A$2:$A$5</c:f>
              <c:strCache>
                <c:ptCount val="4"/>
                <c:pt idx="0">
                  <c:v>Asia</c:v>
                </c:pt>
                <c:pt idx="1">
                  <c:v>Middle East</c:v>
                </c:pt>
                <c:pt idx="2">
                  <c:v>Africa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35</c:v>
                </c:pt>
                <c:pt idx="2">
                  <c:v>20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6EB-40E0-8E42-A9AE2C9BE0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373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file:///\\home\oai\share\MIVORAGROUPCorporateProfile_20260609_081426.pdf#:~:text=%E6%88%90%E7%AB%8B%E4%BA%8E2008%20%E5%B9%B4%EF%BC%8C%E6%80%BB%E9%83%A8%E4%BD%8D%E4%BA%8E%E5%9C%9F%E8%80%B3%E5%85%B6%E4%BC%8A%E6%96%AF%E5%9D%A6%E5%B8%83%E5%B0%94%EF%BC%8C%E4%B8%AD%E5%9B%BD%E4%B8%8A%E6%B5%B7%E8%AE%BE%E7%AB%8B%E9%94%80%E5%94%AE%E5%85%AC%E5%8F%B8%E5%BD%A2%E6%88%90,%E5%90%8D%E5%9B%BD%E9%99%85%E5%8C%96%E4%B8%93%E4%B8%9A%E5%9B%A2%E9%98%9F%EF%BC%8C%E5%B9%B3%E5%9D%87%E8%A1%8C%E4%B8%9A%E7%BB%8F%E9%AA%8C%E8%B6%85%E8%BF%878%20%E5%B9%B4%EF%BC%8C%E6%B6%B5%E7%9B%96%E5%9B%BD%E9%99%85%E8%B4%B8%E6%98%93%E3%80%81%E7%89%A9%E6%B5%81%E7%AE%A1%E7%90%86%E3%80%81%E9%87%91%E8%9E%8D%E9%A3%8E%E6%8E%A7%E7%AD%89%E9%A2%86%20%E5%9F%9F%20Strategic%20Positioni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\\home\oai\share\MIVORAGROUPCorporateProfile_20260609_081426.pdf#:~:text=%E4%BE%9D%E6%89%98%E5%9C%9F%E8%80%B3%E5%85%B6%E8%BF%9E%E6%8E%A5%E6%AC%A7%E4%BA%9A%E9%9D%9E%E7%9A%84%E6%9E%A2%E7%BA%BD%E5%9C%B0%E4%BD%8D%EF%BC%8C%E6%9E%84%E5%BB%BA%E4%BB%8E%E8%B5%84%E6%BA%90%E4%BA%A7%E5%9C%B0%E5%88%B0%E7%BB%88%E7%AB%AF%E5%B8%82%E5%9C%BA%E7%9A%84%E7%9B%B4%E8%BE%BE%E4%BE%9B%E5%BA%94%E9%93%BE%20%E5%B9%B4%E7%BB%BC%E5%90%88%E8%90%A5%E4%B8%9A%E6%94%B6%E5%85%A5%E8%B6%8572%20%E4%BA%BF%E5%85%83%E4%BA%BA%E6%B0%91%E5%B8%81%EF%BC%8C%E4%B8%9A%E5%8A%A1%E5%A2%9E%E9%95%BF%E7%8E%87%E8%BF%9E%E7%BB%AD%E5%A4%9A%E5%B9%B4%E4%BF%9D%E6%8C%81%E4%B8%A4%E4%BD%8D%E6%95%B0%E5%A2%9E%E9%95%BF%20%E5%BB%BA%E7%AB%8B%E5%A4%9A%E5%B8%81%E7%A7%8D%E7%BB%93%E7%AE%97%E4%BD%93%E7%B3%BB%E4%B8%8E%E8%B7%A8%E5%A2%83%E9%A3%8E%E6%8E%A7%E6%9C%BA%E5%88%B6%EF%BC%8C%E4%BF%9D%E9%9A%9C%E5%9B%BD%E9%99%85%E8%B4%B8%E6%98%93%E5%90%88%E8%A7%84%E6%80%A7%E4%B8%8E%E8%B5%84%E9%87%91%E5%AE%89%E5%85%A8%20%E8%AF%9A%E4%BF%A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file:///\\home\oai\share\MIVORAGROUPCorporateProfile_20260609_081426.pdf#:~:text=%E9%9B%86%E5%9B%A2%E4%B8%93%E6%B3%A8%E4%BA%8E%E5%85%B3%E7%B3%BB%E5%85%A8%E7%90%83%E7%BB%8F%E6%B5%8E%E5%8F%91%E5%B1%95%E7%9A%84%E4%BA%94%E5%A4%A7%E5%85%B3%E9%94%AE%E4%BA%A7%E4%B8%9A%E9%A2%86%E5%9F%9F%EF%BC%8C%E6%9E%84%E5%BB%BA%E8%B5%B7%E4%BB%8E%E8%83%BD%E6%BA%90%E5%8C%96%E5%B7%A5%E5%88%B0%E8%B5%84%E6%BA%90%E5%86%9C%E4%B8%9A%E5%86%8D%E5%88%B0%E5%8C%BB%E8%8D%AF%E5%81%A5%E5%BA%B7%E7%9A%84%E5%A4%9A%E5%85%83%E5%8C%96%E4%B8%9A%E5%8A%A1%E7%9F%A9%E9%98%B5%E3%80%82%E8%BF%99%E7%A7%8D%E8%B7%A8%E5%91%A8%E6%9C%9F%E3%80%81%E8%B7%A8%E5%8C%BA%E5%9F%9F%E7%9A%84%E4%B8%9A%E5%8A%A1%E7%BB%84%E5%90%88%E4%B8%8D%20%E4%BB%85%E5%88%86%E6%95%A3%E4%BA%86%E5%8D%95%E4%B8%80%E5%B8%82%E5%9C%BA%E9%A3%8E%E9%99%A9%EF%BC%8C%E6%9B%B4%E9%80%9A%E8%BF%87%E4%BE%9B%E5%BA%94%E9%93%BE%E5%8D%8F%E5%90%8C%E6%95%88%E5%BA%94%E4%B8%BA%E5%AE%A2%E6%88%B7%E6%8F%90%E4%BE%9B%E4%B8%80%E7%AB%99%E5%BC%8F%E8%B5%84%E6%BA%90%E6%95%B4%E5%90%88%E8%A7%A3%E5%86%B3%E6%96%B9%E6%A1%88%E3%80%82%20%E8%83%BD%E6%BA%90%E5%8C%96%E5%B7%A5%20Energy%20%26,distribution%20ensuring%20quality%20and%20complianc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file:///\\home\oai\share\MIVORAGROUPCorporateProfile_20260609_081426.pdf#:~:text=%E8%83%BD%E6%BA%90%E5%8C%96%E5%B7%A5%E6%9D%BF%E5%9D%97%E4%BE%9D%E6%89%98%E5%9C%9F%E8%80%B3%E5%85%B6%E8%BF%9E%E6%8E%A5%E4%B8%AD%E4%B8%9C%E4%BA%A7%E6%B2%B9%E5%9B%BD%E4%B8%8E%E6%AC%A7%E6%B4%B2%E6%B6%88%E8%B4%B9%E5%B8%82%E5%9C%BA%E7%9A%84%E6%9E%A2%E7%BA%BD%E5%9C%B0%E4%BD%8D%EF%BC%8C%E6%9E%84%E5%BB%BA%E8%B5%B7%E6%B6%B5%E7%9B%96%E7%9F%B3%E6%B2%B9%E5%A4%A9%20%E7%84%B6%E6%B0%94%E8%B4%B8%E6%98%93%E3%80%81LPG%20%E5%88%86%E9%94%80%E5%8F%8A%E7%9F%B3%E5%8C%96%E4%BA%A7%E5%93%81%E4%BE%9B%E5%BA%94%E9%93%BE%E7%9A%84%E7%BB%BC%E5%90%88%E6%9C%8D%E5%8A%A1%E4%BD%93%E7%B3%BB%E3%80%82%20LPG%20%E6%B6%B2%E5%8C%96%E7%9F%B3%E6%B2%B9%E6%B0%94%E5%88%86%E9%94%80%E7%BD%91%E7%BB%9C%E8%A6%86%E7%9B%96%E6%AC%A7%E6%B4%B2%E3%80%81%E4%B8%AD%E4%B8%9C%E5%8F%8A%E5%8C%97%E9%9D%9E%E5%B8%82%E5%9C%BA%EF%BC%8C%E6%8F%90%E4%BE%9B%E4%BB%8E%E5%82%A8%E8%BF%90%E8%AE%BE%E6%96%BD%E5%88%B0%E7%BB%88%E7%AB%AF%E9%85%8D%E9%80%81%E7%9A%84%E4%B8%80%E4%BD%93%E5%8C%96%E6%9C%8D%E5%8A%A1,transportation%20meeting%20international%20safety%20standard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\\home\oai\share\MIVORAGROUPCorporateProfile_20260609_081426.pdf#:~:text=BUSINESS%20SEGMENTS%20%E8%B5%84%E6%BA%90%E4%B8%8E%E5%86%9C%E4%B8%9A%20Resources%20%26,Port%20Operations%20%E8%B5%84%E6%BA%90%E4%B8%8E%E5%86%9C%E4%B8%9A%E6%9D%BF%E5%9D%97%E4%BD%93%E7%8E%B0%E4%BA%86MIVORA%20%E5%9C%A8%E5%A4%A7%E5%AE%97%E5%95%86%E5%93%81%E9%A2%86%E5%9F%9F%E7%9A%84%E6%B7%B1%E8%80%95%E8%83%BD%E5%8A%9B%EF%BC%8C%E9%93%81%E7%9F%BF%E7%9F%B3%E4%B8%9A%E5%8A%A1%E4%BE%9D%E6%89%98%E6%B8%AF%E5%8F%A3%E4%BC%98%E5%8A%BF%E6%9E%84%E5%BB%BA%E7%9B%B4%E8%BE%BE%E4%BE%9B%E5%BA%94%E9%93%BE%EF%BC%8C%E5%86%9C%E4%BA%A7%E5%93%81%E4%B8%9A%E5%8A%A1%E5%88%99%E5%88%A9%E7%94%A8%E5%9C%9F%E8%80%B3%E5%85%B6%E4%BD%9C%E4%B8%BA%E9%BB%91%E6%B5%B7%E7%B2%AE%E9%A3%9F%E8%B5%B0%E5%BB%8A%E5%85%B3%E9%94%AE%E8%8A%82%E7%82%B9%E7%9A%84%E5%9C%B0%E4%BD%8D%EF%BC%8C%E9%AB%98%E6%95%88%20%E8%BF%9E%E6%8E%A5%E5%85%A8%E7%90%83%E7%B2%AE%E9%A3%9F%E4%BA%A7%E5%8C%BA%E4%B8%8E%E7%BC%BA%E7%B2%AE%E5%9C%B0%E5%8C%BA%E3%80%82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\\home\oai\share\MIVORAGROUPCorporateProfile_20260609_081426.pdf#:~:text=GLOBAL%20PRESENCE%20%E5%85%A8%E7%90%83%E7%BD%91%E7%BB%9C%E4%B8%8E%E8%BF%90%E8%90%A5%E8%A7%84%E6%A8%A1%20Global%20Network,LCs%2C%20factoring%20and%20hedging%20instrument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\\home\oai\share\MIVORAGROUPCorporateProfile_20260609_081426.pdf#:~:text=MIVORA%20GROUP%20%E4%BC%81%E4%B8%9A%E6%84%BF%E6%99%AF%E4%B8%8E%E4%BB%B7%E5%80%BC%E8%A7%82%20,%E6%A1%88%E3%80%82%20%E5%8F%AF%E6%8C%81%E7%BB%AD%E5%8F%91%E5%B1%95%20Sustainability%20%E5%9C%A8%E5%95%86%E4%B8%9A%E8%BF%90%E8%90%A5%E4%B8%AD%E5%B9%B3%E8%A1%A1%E7%BB%8F%E6%B5%8E%E5%9B%9E%E6%8A%A5%E4%B8%8E%E7%8E%AF%E5%A2%83%E7%A4%BE%E4%BC%9A%E8%B4%A3%E4%BB%BB%EF%BC%8C%E8%87%B4%E5%8A%9B%E4%BA%8E%E4%B8%BA%E5%AE%A2%E6%88%B7%E3%80%81%E5%90%88%E4%BD%9C%E4%BC%99%E4%BC%B4%E3%80%81%E5%91%98%E5%B7%A5%E5%8F%8A%E7%A4%BE%E5%8C%BA%E5%88%9B%E9%80%A0%E9%95%BF%E6%9C%9F%20%E4%BB%B7%E5%80%BC%E3%80%82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\\home\oai\share\MIVORAGROUPCorporateProfile_20260609_081426.pdf#:~:text=Corporate%20Profile%20MIVORA%20GROUP%20%E9%93%BE%E6%8E%A5%E5%85%A8%E7%90%83%E8%B5%84%E6%BA%90%EF%BC%8C%E5%88%9B%E9%80%A0%E5%8F%AF%E6%8C%81%E7%BB%AD%E4%BB%B7%E5%80%BC,Connecting%20Resources%2C%20Creating%20Sustainable%20Val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74295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F2E57"/>
                </a:solidFill>
              </a:rPr>
              <a:t>MIVORA GROUP</a:t>
            </a:r>
            <a:r>
              <a:rPr lang="en-US" sz="4000" dirty="0">
                <a:solidFill>
                  <a:srgbClr val="000000"/>
                </a:solidFill>
              </a:rPr>
              <a:t>
</a:t>
            </a:r>
            <a:r>
              <a:rPr lang="en-US" sz="1800" b="1" dirty="0">
                <a:solidFill>
                  <a:srgbClr val="B5984A"/>
                </a:solidFill>
              </a:rPr>
              <a:t>链接全球资源，创造可持续价值</a:t>
            </a:r>
            <a:r>
              <a:rPr lang="en-US" sz="4000" dirty="0">
                <a:solidFill>
                  <a:srgbClr val="000000"/>
                </a:solidFill>
              </a:rPr>
              <a:t>
</a:t>
            </a:r>
            <a:r>
              <a:rPr lang="en-US" sz="1400" i="1" dirty="0">
                <a:solidFill>
                  <a:srgbClr val="666666"/>
                </a:solidFill>
              </a:rPr>
              <a:t>Connecting Resources, Creating Sustainable Value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E57"/>
          </a:solidFill>
          <a:ln w="12700">
            <a:solidFill>
              <a:srgbClr val="0F2E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目录</a:t>
            </a:r>
            <a:r>
              <a:rPr lang="en-US" sz="2000" b="1" dirty="0">
                <a:solidFill>
                  <a:srgbClr val="2A4F7D"/>
                </a:solidFill>
              </a:rPr>
              <a:t> / </a:t>
            </a:r>
            <a:r>
              <a:rPr lang="en-US" sz="2000" b="1" dirty="0">
                <a:solidFill>
                  <a:srgbClr val="FFFFFF"/>
                </a:solidFill>
              </a:rPr>
              <a:t>Contents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320040" cy="320040"/>
          </a:xfrm>
          <a:prstGeom prst="ellipse">
            <a:avLst/>
          </a:prstGeom>
          <a:solidFill>
            <a:srgbClr val="B5984A"/>
          </a:solidFill>
          <a:ln w="12700">
            <a:solidFill>
              <a:srgbClr val="B598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7955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E57"/>
                </a:solidFill>
              </a:rPr>
              <a:t>集团概况 / Group Profile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20040" cy="320040"/>
          </a:xfrm>
          <a:prstGeom prst="ellipse">
            <a:avLst/>
          </a:prstGeom>
          <a:solidFill>
            <a:srgbClr val="B5984A"/>
          </a:solidFill>
          <a:ln w="12700">
            <a:solidFill>
              <a:srgbClr val="B598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2070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E57"/>
                </a:solidFill>
              </a:rPr>
              <a:t>核心业务 / Business Sectors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20040" cy="320040"/>
          </a:xfrm>
          <a:prstGeom prst="ellipse">
            <a:avLst/>
          </a:prstGeom>
          <a:solidFill>
            <a:srgbClr val="B5984A"/>
          </a:solidFill>
          <a:ln w="12700">
            <a:solidFill>
              <a:srgbClr val="B598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6184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E57"/>
                </a:solidFill>
              </a:rPr>
              <a:t>能源化工 / Energy &amp; Chemicals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320040" cy="320040"/>
          </a:xfrm>
          <a:prstGeom prst="ellipse">
            <a:avLst/>
          </a:prstGeom>
          <a:solidFill>
            <a:srgbClr val="B5984A"/>
          </a:solidFill>
          <a:ln w="12700">
            <a:solidFill>
              <a:srgbClr val="B598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0299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E57"/>
                </a:solidFill>
              </a:rPr>
              <a:t>资源与农业 / Resources &amp; Agriculture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B5984A"/>
          </a:solidFill>
          <a:ln w="12700">
            <a:solidFill>
              <a:srgbClr val="B598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4414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E57"/>
                </a:solidFill>
              </a:rPr>
              <a:t>全球网络 / Global Network &amp; Operations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320040" cy="320040"/>
          </a:xfrm>
          <a:prstGeom prst="ellipse">
            <a:avLst/>
          </a:prstGeom>
          <a:solidFill>
            <a:srgbClr val="B5984A"/>
          </a:solidFill>
          <a:ln w="12700">
            <a:solidFill>
              <a:srgbClr val="B598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5720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28529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E57"/>
                </a:solidFill>
              </a:rPr>
              <a:t>愿景与价值观 / Vision &amp; Values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320040" cy="320040"/>
          </a:xfrm>
          <a:prstGeom prst="ellipse">
            <a:avLst/>
          </a:prstGeom>
          <a:solidFill>
            <a:srgbClr val="B5984A"/>
          </a:solidFill>
          <a:ln w="12700">
            <a:solidFill>
              <a:srgbClr val="B598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2644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E57"/>
                </a:solidFill>
              </a:rPr>
              <a:t>结束语 / 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E57"/>
          </a:solidFill>
          <a:ln w="12700">
            <a:solidFill>
              <a:srgbClr val="0F2E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集团概况</a:t>
            </a:r>
            <a:r>
              <a:rPr lang="en-US" sz="2000" b="1" dirty="0">
                <a:solidFill>
                  <a:srgbClr val="2A4F7D"/>
                </a:solidFill>
              </a:rPr>
              <a:t> / </a:t>
            </a:r>
            <a:r>
              <a:rPr lang="en-US" sz="2000" b="1" dirty="0">
                <a:solidFill>
                  <a:srgbClr val="FFFFFF"/>
                </a:solidFill>
              </a:rPr>
              <a:t>Group Profile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E57"/>
                </a:solidFill>
              </a:rPr>
              <a:t>企业基础
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成立于2008年，总部位于土耳其伊斯坦布尔，中国上海设立销售公司，形成“总部+亚太”双核布局
</a:t>
            </a:r>
            <a:r>
              <a:rPr lang="en-US" sz="1000" i="1" dirty="0">
                <a:solidFill>
                  <a:srgbClr val="555555"/>
                </a:solidFill>
              </a:rPr>
              <a:t>  Founded in 2008, headquartered in Istanbul, Turkey, with a sales company in Shanghai forming a dual-core “headquarters + APAC” layout
</a:t>
            </a: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全球20多个办事处覆盖伊斯坦布尔、莫斯科、新加坡、迪拜等关键商业中心，实现24小时全球响应
</a:t>
            </a:r>
            <a:r>
              <a:rPr lang="en-US" sz="1000" i="1" dirty="0">
                <a:solidFill>
                  <a:srgbClr val="555555"/>
                </a:solidFill>
              </a:rPr>
              <a:t>  Over 20 offices worldwide cover key business centers like Istanbul, Moscow, Singapore and Dubai, enabling a 24‑hour global response
</a:t>
            </a: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368名国际化专业团队，平均行业经验超过8年，涵盖国际贸易、物流管理、金融风控等领域
</a:t>
            </a:r>
            <a:r>
              <a:rPr lang="en-US" sz="1000" i="1" dirty="0">
                <a:solidFill>
                  <a:srgbClr val="555555"/>
                </a:solidFill>
              </a:rPr>
              <a:t>  An international team of 368 professionals with an average of 8+ years’ experience across international trade, logistics management, financial risk control and more
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0" y="731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E57"/>
                </a:solidFill>
              </a:rPr>
              <a:t>战略定位
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100584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依托土耳其连接中东、亚洲与非洲的枢纽地位，构建从资源产地到终端市场的直达供应链
</a:t>
            </a:r>
            <a:r>
              <a:rPr lang="en-US" sz="1000" i="1" dirty="0">
                <a:solidFill>
                  <a:srgbClr val="555555"/>
                </a:solidFill>
              </a:rPr>
              <a:t>  Rely on Turkey’s hub connecting the Middle East, Asia and Africa to build a direct supply chain from resource origin to end markets
</a:t>
            </a: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年综合营业收入超72亿元人民币，业务增长率连续多年保持两位数增长
</a:t>
            </a:r>
            <a:r>
              <a:rPr lang="en-US" sz="1000" i="1" dirty="0">
                <a:solidFill>
                  <a:srgbClr val="555555"/>
                </a:solidFill>
              </a:rPr>
              <a:t>  Annual revenue exceeds RMB 7.2 billion, with double-digit growth for consecutive years
</a:t>
            </a: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建立多币种结算体系与跨境风控机制，保障国际贸易合规性与资金安全
</a:t>
            </a:r>
            <a:r>
              <a:rPr lang="en-US" sz="1000" i="1" dirty="0">
                <a:solidFill>
                  <a:srgbClr val="555555"/>
                </a:solidFill>
              </a:rPr>
              <a:t>  Build a multi-currency settlement system and cross‑border risk control mechanism to ensure compliance and fund security in international trade
</a:t>
            </a: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核心经营理念：诚信、专业、可持续发展
</a:t>
            </a:r>
            <a:r>
              <a:rPr lang="en-US" sz="1000" i="1" dirty="0">
                <a:solidFill>
                  <a:srgbClr val="555555"/>
                </a:solidFill>
              </a:rPr>
              <a:t>  Core philosophy: integrity, professionalism and sustainable development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30A18"/>
                </a:solidFill>
                <a:hlinkClick r:id="rId3"/>
              </a:rPr>
              <a:t>[1]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030A18"/>
                </a:solidFill>
                <a:hlinkClick r:id="rId4"/>
              </a:rPr>
              <a:t>[2]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E57"/>
          </a:solidFill>
          <a:ln w="12700">
            <a:solidFill>
              <a:srgbClr val="0F2E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核心业务板块</a:t>
            </a:r>
            <a:r>
              <a:rPr lang="en-US" sz="2000" b="1" dirty="0">
                <a:solidFill>
                  <a:srgbClr val="2A4F7D"/>
                </a:solidFill>
              </a:rPr>
              <a:t> / </a:t>
            </a:r>
            <a:r>
              <a:rPr lang="en-US" sz="2000" b="1" dirty="0">
                <a:solidFill>
                  <a:srgbClr val="FFFFFF"/>
                </a:solidFill>
              </a:rPr>
              <a:t>Business Sectors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2804160" cy="3291840"/>
          </a:xfrm>
          <a:prstGeom prst="roundRect">
            <a:avLst>
              <a:gd name="adj" fmla="val 1630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262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57"/>
                </a:solidFill>
              </a:rPr>
              <a:t>能源化工
</a:t>
            </a:r>
            <a:r>
              <a:rPr lang="en-US" sz="1200" i="1" dirty="0">
                <a:solidFill>
                  <a:srgbClr val="555555"/>
                </a:solidFill>
              </a:rPr>
              <a:t>Energy &amp; Chemicals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621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石油与天然气贸易及液化石油气 (LPG) 分销，连接中东产油国与亚洲、非洲市场
</a:t>
            </a:r>
            <a:r>
              <a:rPr lang="en-US" sz="1000" i="1" dirty="0">
                <a:solidFill>
                  <a:srgbClr val="555555"/>
                </a:solidFill>
              </a:rPr>
              <a:t>  Oil and natural gas trading and LPG distribution linking Middle Eastern oil producers with markets in Asia and Africa
</a:t>
            </a: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石化产品与塑料粒子 (PE/PP/PVC) 全球供应链服务
</a:t>
            </a:r>
            <a:r>
              <a:rPr lang="en-US" sz="1000" i="1" dirty="0">
                <a:solidFill>
                  <a:srgbClr val="555555"/>
                </a:solidFill>
              </a:rPr>
              <a:t>  Global supply chain services for petrochemical products and plastic pellets (PE/PP/PVC)
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69920" y="731520"/>
            <a:ext cx="2804160" cy="3291840"/>
          </a:xfrm>
          <a:prstGeom prst="roundRect">
            <a:avLst>
              <a:gd name="adj" fmla="val 1630"/>
            </a:avLst>
          </a:prstGeom>
          <a:solidFill>
            <a:srgbClr val="E8F3E8"/>
          </a:solidFill>
          <a:ln w="12700">
            <a:solidFill>
              <a:srgbClr val="E8F3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261360" y="777240"/>
            <a:ext cx="262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57"/>
                </a:solidFill>
              </a:rPr>
              <a:t>资源与农业
</a:t>
            </a:r>
            <a:r>
              <a:rPr lang="en-US" sz="1200" i="1" dirty="0">
                <a:solidFill>
                  <a:srgbClr val="555555"/>
                </a:solidFill>
              </a:rPr>
              <a:t>Resources &amp; Agriculture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61360" y="1280160"/>
            <a:ext cx="2621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铁矿石及矿产资源国际贸易，涵盖粉矿、块矿、球团矿等多品类
</a:t>
            </a:r>
            <a:r>
              <a:rPr lang="en-US" sz="1000" i="1" dirty="0">
                <a:solidFill>
                  <a:srgbClr val="555555"/>
                </a:solidFill>
              </a:rPr>
              <a:t>  International trade of iron ore and mineral resources covering fines, lumps and pellets
</a:t>
            </a: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粮食等农产品全球采购与分销，利用土耳其黑海粮食走廊优势
</a:t>
            </a:r>
            <a:r>
              <a:rPr lang="en-US" sz="1000" i="1" dirty="0">
                <a:solidFill>
                  <a:srgbClr val="555555"/>
                </a:solidFill>
              </a:rPr>
              <a:t>  Global procurement and distribution of grains and other agricultural products, leveraging Turkey’s Black Sea grain corridor advantage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65520" y="731520"/>
            <a:ext cx="2804160" cy="3291840"/>
          </a:xfrm>
          <a:prstGeom prst="roundRect">
            <a:avLst>
              <a:gd name="adj" fmla="val 1630"/>
            </a:avLst>
          </a:prstGeom>
          <a:solidFill>
            <a:srgbClr val="F9F4E7"/>
          </a:solidFill>
          <a:ln w="12700">
            <a:solidFill>
              <a:srgbClr val="F9F4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156960" y="777240"/>
            <a:ext cx="262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57"/>
                </a:solidFill>
              </a:rPr>
              <a:t>金融与供应链服务
</a:t>
            </a:r>
            <a:r>
              <a:rPr lang="en-US" sz="1200" i="1" dirty="0">
                <a:solidFill>
                  <a:srgbClr val="555555"/>
                </a:solidFill>
              </a:rPr>
              <a:t>Financial &amp; Supply Chain Services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56960" y="1280160"/>
            <a:ext cx="2621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构建多币种结算体系，涵盖信用证、保理、外汇对冲等金融工具
</a:t>
            </a:r>
            <a:r>
              <a:rPr lang="en-US" sz="1000" i="1" dirty="0">
                <a:solidFill>
                  <a:srgbClr val="555555"/>
                </a:solidFill>
              </a:rPr>
              <a:t>  Develop a multi‑currency settlement system encompassing letters of credit, factoring and FX hedging instruments
</a:t>
            </a: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跨境风险控制与资金管理，提供贸易融资与流动性支持
</a:t>
            </a:r>
            <a:r>
              <a:rPr lang="en-US" sz="1000" i="1" dirty="0">
                <a:solidFill>
                  <a:srgbClr val="555555"/>
                </a:solidFill>
              </a:rPr>
              <a:t>  Provide cross‑border risk control and fund management with trade financing and liquidity support
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30A18"/>
                </a:solidFill>
                <a:hlinkClick r:id="rId3"/>
              </a:rPr>
              <a:t>[3]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E57"/>
          </a:solidFill>
          <a:ln w="12700">
            <a:solidFill>
              <a:srgbClr val="0F2E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能源化工</a:t>
            </a:r>
            <a:r>
              <a:rPr lang="en-US" sz="2000" b="1" dirty="0">
                <a:solidFill>
                  <a:srgbClr val="2A4F7D"/>
                </a:solidFill>
              </a:rPr>
              <a:t> / </a:t>
            </a:r>
            <a:r>
              <a:rPr lang="en-US" sz="2000" b="1" dirty="0">
                <a:solidFill>
                  <a:srgbClr val="FFFFFF"/>
                </a:solidFill>
              </a:rPr>
              <a:t>Energy &amp; Chemical Solutions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5486400" cy="329184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E1E5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212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LPG液化石油气分销网络覆盖中东、北非及亚洲市场，提供从储运设施到终端配送的一体化服务
</a:t>
            </a:r>
            <a:r>
              <a:rPr lang="en-US" sz="1000" i="1" dirty="0">
                <a:solidFill>
                  <a:srgbClr val="555555"/>
                </a:solidFill>
              </a:rPr>
              <a:t>  The LPG distribution network covers the Middle East, North Africa and Asia, providing integrated services from storage facilities to end delivery
</a:t>
            </a: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塑料粒子全品类供应 (PE/PP/PVC)，建立从中东、亚洲生产商到全球加工企业的直达供应链
</a:t>
            </a:r>
            <a:r>
              <a:rPr lang="en-US" sz="1000" i="1" dirty="0">
                <a:solidFill>
                  <a:srgbClr val="555555"/>
                </a:solidFill>
              </a:rPr>
              <a:t>  Comprehensive supply of plastic pellets (PE/PP/PVC) by establishing direct supply chains from Middle Eastern and Asian producers to processors worldwide
</a:t>
            </a: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石化产品贸易涵盖芳烃、烯烃等基础化工原料，提供混配、检验、仓储等增值服务
</a:t>
            </a:r>
            <a:r>
              <a:rPr lang="en-US" sz="1000" i="1" dirty="0">
                <a:solidFill>
                  <a:srgbClr val="555555"/>
                </a:solidFill>
              </a:rPr>
              <a:t>  Petrochemical trading covers basic chemical materials such as aromatics and olefins, offering blending, inspection and storage value‑added services
</a:t>
            </a: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建立符合国际安全标准的危化品储运管理体系，确保能源产品从采购到交付全程可追溯
</a:t>
            </a:r>
            <a:r>
              <a:rPr lang="en-US" sz="1000" i="1" dirty="0">
                <a:solidFill>
                  <a:srgbClr val="555555"/>
                </a:solidFill>
              </a:rPr>
              <a:t>  Establish an internationally compliant hazardous materials storage and transportation system to ensure traceability from procurement to delivery
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731520"/>
            <a:ext cx="2560320" cy="3291840"/>
          </a:xfrm>
          <a:prstGeom prst="roundRect">
            <a:avLst>
              <a:gd name="adj" fmla="val 1429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30A18"/>
                </a:solidFill>
                <a:hlinkClick r:id="rId3"/>
              </a:rPr>
              <a:t>[4]</a:t>
            </a:r>
            <a:endParaRPr lang="en-US" sz="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EE8219-35D6-C60F-0457-54FA08D8A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00" y="1462960"/>
            <a:ext cx="1828959" cy="18289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E57"/>
          </a:solidFill>
          <a:ln w="12700">
            <a:solidFill>
              <a:srgbClr val="0F2E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资源与农业</a:t>
            </a:r>
            <a:r>
              <a:rPr lang="en-US" sz="2000" b="1" dirty="0">
                <a:solidFill>
                  <a:srgbClr val="2A4F7D"/>
                </a:solidFill>
              </a:rPr>
              <a:t> / </a:t>
            </a:r>
            <a:r>
              <a:rPr lang="en-US" sz="2000" b="1" dirty="0">
                <a:solidFill>
                  <a:srgbClr val="FFFFFF"/>
                </a:solidFill>
              </a:rPr>
              <a:t>Resources &amp; Agriculture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160520" cy="2377440"/>
          </a:xfrm>
          <a:prstGeom prst="roundRect">
            <a:avLst>
              <a:gd name="adj" fmla="val 1923"/>
            </a:avLst>
          </a:prstGeom>
          <a:solidFill>
            <a:srgbClr val="F2F7F2"/>
          </a:solidFill>
          <a:ln w="12700">
            <a:solidFill>
              <a:srgbClr val="F2F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57"/>
                </a:solidFill>
              </a:rPr>
              <a:t>矿产资源
</a:t>
            </a:r>
            <a:r>
              <a:rPr lang="en-US" sz="1200" i="1" dirty="0">
                <a:solidFill>
                  <a:srgbClr val="555555"/>
                </a:solidFill>
              </a:rPr>
              <a:t>Mineral Resources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3977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覆盖粉矿、块矿、球团矿等多品类铁矿石，服务中国、东南亚及中东钢铁制造企业
</a:t>
            </a:r>
            <a:r>
              <a:rPr lang="en-US" sz="1000" i="1" dirty="0">
                <a:solidFill>
                  <a:srgbClr val="555555"/>
                </a:solidFill>
              </a:rPr>
              <a:t>  Covers various iron ore types such as fines, lumps and pellets, serving steelmakers in China, Southeast Asia and the Middle East
</a:t>
            </a: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矿山–港口–钢厂一体化供应链，提供混配、检验、物流全程服务
</a:t>
            </a:r>
            <a:r>
              <a:rPr lang="en-US" sz="1000" i="1" dirty="0">
                <a:solidFill>
                  <a:srgbClr val="555555"/>
                </a:solidFill>
              </a:rPr>
              <a:t>  Integrated mine–port–steel mill supply chain offering blending, inspection and logistics services
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731520"/>
            <a:ext cx="4160520" cy="2377440"/>
          </a:xfrm>
          <a:prstGeom prst="roundRect">
            <a:avLst>
              <a:gd name="adj" fmla="val 1923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800600" y="77724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57"/>
                </a:solidFill>
              </a:rPr>
              <a:t>农业贸易
</a:t>
            </a:r>
            <a:r>
              <a:rPr lang="en-US" sz="1200" i="1" dirty="0">
                <a:solidFill>
                  <a:srgbClr val="555555"/>
                </a:solidFill>
              </a:rPr>
              <a:t>Agricultural Trade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280160"/>
            <a:ext cx="3977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聚焦小麦、大麦、玉米等主粮，利用土耳其地理优势连接黑海产区与中东、北非市场
</a:t>
            </a:r>
            <a:r>
              <a:rPr lang="en-US" sz="1000" i="1" dirty="0">
                <a:solidFill>
                  <a:srgbClr val="555555"/>
                </a:solidFill>
              </a:rPr>
              <a:t>  Focus on wheat, barley, corn and other staple grains, leveraging Turkey’s geographic advantage to connect Black Sea producers with markets in the Middle East and North Africa
</a:t>
            </a: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建立质量管控体系，符合进口国检疫标准，提供从产地溯源到终端配送的全程可追溯系统
</a:t>
            </a:r>
            <a:r>
              <a:rPr lang="en-US" sz="1000" i="1" dirty="0">
                <a:solidFill>
                  <a:srgbClr val="555555"/>
                </a:solidFill>
              </a:rPr>
              <a:t>  Establish quality control systems meeting import quarantine standards, providing traceability from origin to final delivery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291840"/>
            <a:ext cx="8595360" cy="1280160"/>
          </a:xfrm>
          <a:prstGeom prst="roundRect">
            <a:avLst>
              <a:gd name="adj" fmla="val 3571"/>
            </a:avLst>
          </a:prstGeom>
          <a:solidFill>
            <a:srgbClr val="F2F3F7"/>
          </a:solidFill>
          <a:ln w="12700">
            <a:solidFill>
              <a:srgbClr val="F2F3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20040" y="3337560"/>
            <a:ext cx="8503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E57"/>
                </a:solidFill>
              </a:rPr>
              <a:t>资源与农业板块凝聚了我们在大宗商品领域的深耕能力。
</a:t>
            </a:r>
            <a:r>
              <a:rPr lang="en-US" sz="1200" dirty="0">
                <a:solidFill>
                  <a:srgbClr val="0F2E57"/>
                </a:solidFill>
              </a:rPr>
              <a:t>铁矿石业务依托港口优势，构建直达供应链；农产品业务利用土耳其作为黑海粮食走廊关键节点，高效连接全球产区与缺粮地区。
</a:t>
            </a:r>
            <a:r>
              <a:rPr lang="en-US" sz="1000" i="1" dirty="0">
                <a:solidFill>
                  <a:srgbClr val="555555"/>
                </a:solidFill>
              </a:rPr>
              <a:t>The resources and agriculture segment reflects our deep roots in bulk commodities. Our iron ore business builds direct supply chains leveraging port advantages, while our agricultural business uses Turkey as a key node in the Black Sea grain corridor to efficiently connect production areas with regions in need.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30A18"/>
                </a:solidFill>
                <a:hlinkClick r:id="rId3"/>
              </a:rPr>
              <a:t>[5]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E57"/>
          </a:solidFill>
          <a:ln w="12700">
            <a:solidFill>
              <a:srgbClr val="0F2E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全球网络与运营规模</a:t>
            </a:r>
            <a:r>
              <a:rPr lang="en-US" sz="2000" b="1" dirty="0">
                <a:solidFill>
                  <a:srgbClr val="2A4F7D"/>
                </a:solidFill>
              </a:rPr>
              <a:t> / </a:t>
            </a:r>
            <a:r>
              <a:rPr lang="en-US" sz="2000" b="1" dirty="0">
                <a:solidFill>
                  <a:srgbClr val="FFFFFF"/>
                </a:solidFill>
              </a:rPr>
              <a:t>Global Network &amp; Operations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20多个办事处形成“总部-区域中心-本地团队”三级架构，覆盖亚洲、中东和非洲等市场
</a:t>
            </a:r>
            <a:r>
              <a:rPr lang="en-US" sz="1000" i="1" dirty="0">
                <a:solidFill>
                  <a:srgbClr val="555555"/>
                </a:solidFill>
              </a:rPr>
              <a:t>  More than 20 offices form a three‑tier structure of “headquarters – regional centers – local teams” covering markets in Asia, the Middle East and Africa
</a:t>
            </a: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办事处分布伊斯坦布尔、莫斯科、上海、新加坡、迪拜等商业中心，实现24小时全球响应
</a:t>
            </a:r>
            <a:r>
              <a:rPr lang="en-US" sz="1000" i="1" dirty="0">
                <a:solidFill>
                  <a:srgbClr val="555555"/>
                </a:solidFill>
              </a:rPr>
              <a:t>  Offices located in Istanbul, Moscow, Shanghai, Singapore, Dubai and other business hubs enable a 24‑hour global response
</a:t>
            </a: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368名专业人才平均行业经验8年以上，支撑72亿元年营收，业务多年保持两位数增长
</a:t>
            </a:r>
            <a:r>
              <a:rPr lang="en-US" sz="1000" i="1" dirty="0">
                <a:solidFill>
                  <a:srgbClr val="555555"/>
                </a:solidFill>
              </a:rPr>
              <a:t>  A team of 368 professionals with an average of 8+ years of experience supports annual revenue of RMB 7.2 billion, with double‑digit growth for many years
</a:t>
            </a:r>
            <a:r>
              <a:rPr lang="en-US" sz="1200" dirty="0">
                <a:solidFill>
                  <a:srgbClr val="B5984A"/>
                </a:solidFill>
              </a:rPr>
              <a:t>• </a:t>
            </a:r>
            <a:r>
              <a:rPr lang="en-US" sz="1200" dirty="0">
                <a:solidFill>
                  <a:srgbClr val="0F2E57"/>
                </a:solidFill>
              </a:rPr>
              <a:t>多币种结算体系及跨境风控机制涵盖信用证、保理、外汇对冲等金融工具
</a:t>
            </a:r>
            <a:r>
              <a:rPr lang="en-US" sz="1000" i="1" dirty="0">
                <a:solidFill>
                  <a:srgbClr val="555555"/>
                </a:solidFill>
              </a:rPr>
              <a:t>  A multi‑currency settlement system and cross‑border risk control mechanism covers instruments such as letters of credit, factoring and currency hedging
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760720" y="731520"/>
            <a:ext cx="3108960" cy="3291840"/>
          </a:xfrm>
          <a:prstGeom prst="roundRect">
            <a:avLst>
              <a:gd name="adj" fmla="val 1471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991726947"/>
              </p:ext>
            </p:extLst>
          </p:nvPr>
        </p:nvGraphicFramePr>
        <p:xfrm>
          <a:off x="5943600" y="1005840"/>
          <a:ext cx="2743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30A18"/>
                </a:solidFill>
                <a:hlinkClick r:id="rId4"/>
              </a:rPr>
              <a:t>[6]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E57"/>
          </a:solidFill>
          <a:ln w="12700">
            <a:solidFill>
              <a:srgbClr val="0F2E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企业愿景与价值观</a:t>
            </a:r>
            <a:r>
              <a:rPr lang="en-US" sz="2000" b="1" dirty="0">
                <a:solidFill>
                  <a:srgbClr val="2A4F7D"/>
                </a:solidFill>
              </a:rPr>
              <a:t> / </a:t>
            </a:r>
            <a:r>
              <a:rPr lang="en-US" sz="2000" b="1" dirty="0">
                <a:solidFill>
                  <a:srgbClr val="FFFFFF"/>
                </a:solidFill>
              </a:rPr>
              <a:t>Vision &amp; Values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1280160"/>
          </a:xfrm>
          <a:prstGeom prst="roundRect">
            <a:avLst>
              <a:gd name="adj" fmla="val 3571"/>
            </a:avLst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57"/>
                </a:solidFill>
              </a:rPr>
              <a:t>愿景
</a:t>
            </a:r>
            <a:r>
              <a:rPr lang="en-US" sz="1200" dirty="0">
                <a:solidFill>
                  <a:srgbClr val="0F2E57"/>
                </a:solidFill>
              </a:rPr>
              <a:t>成为全球领先的资源与供应链综合服务平台，通过连接市场、促进可持续发展创造持久价值
</a:t>
            </a:r>
            <a:r>
              <a:rPr lang="en-US" sz="1600" b="1" dirty="0">
                <a:solidFill>
                  <a:srgbClr val="0F2E57"/>
                </a:solidFill>
              </a:rPr>
              <a:t>Vision
</a:t>
            </a:r>
            <a:r>
              <a:rPr lang="en-US" sz="1000" i="1" dirty="0">
                <a:solidFill>
                  <a:srgbClr val="555555"/>
                </a:solidFill>
              </a:rPr>
              <a:t>To become a global leading integrated platform for resources and supply chain services, creating lasting value by connecting markets and promoting sustainable development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2194560"/>
            <a:ext cx="2712720" cy="2194560"/>
          </a:xfrm>
          <a:prstGeom prst="roundRect">
            <a:avLst>
              <a:gd name="adj" fmla="val 2500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2621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57"/>
                </a:solidFill>
              </a:rPr>
              <a:t>诚信
</a:t>
            </a:r>
            <a:r>
              <a:rPr lang="en-US" sz="1200" i="1" dirty="0">
                <a:solidFill>
                  <a:srgbClr val="555555"/>
                </a:solidFill>
              </a:rPr>
              <a:t>Integrity
</a:t>
            </a:r>
            <a:r>
              <a:rPr lang="en-US" sz="1200" dirty="0">
                <a:solidFill>
                  <a:srgbClr val="0F2E57"/>
                </a:solidFill>
              </a:rPr>
              <a:t>在每一次交易与合作中恪守承诺，建立长期稳定的国际合作网络，赢得全球客户与合作伙伴的广泛认可。
</a:t>
            </a:r>
            <a:r>
              <a:rPr lang="en-US" sz="1000" i="1" dirty="0">
                <a:solidFill>
                  <a:srgbClr val="555555"/>
                </a:solidFill>
              </a:rPr>
              <a:t>Keep commitments in every transaction and partnership, build long‑term stable international collaboration networks, and earn widespread recognition from global clients and partners.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15640" y="2194560"/>
            <a:ext cx="2712720" cy="2194560"/>
          </a:xfrm>
          <a:prstGeom prst="roundRect">
            <a:avLst>
              <a:gd name="adj" fmla="val 2500"/>
            </a:avLst>
          </a:prstGeom>
          <a:solidFill>
            <a:srgbClr val="F8F1E7"/>
          </a:solidFill>
          <a:ln w="12700">
            <a:solidFill>
              <a:srgbClr val="F8F1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261360" y="2240280"/>
            <a:ext cx="2621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57"/>
                </a:solidFill>
              </a:rPr>
              <a:t>专业
</a:t>
            </a:r>
            <a:r>
              <a:rPr lang="en-US" sz="1200" i="1" dirty="0">
                <a:solidFill>
                  <a:srgbClr val="555555"/>
                </a:solidFill>
              </a:rPr>
              <a:t>Professionalism
</a:t>
            </a:r>
            <a:r>
              <a:rPr lang="en-US" sz="1200" dirty="0">
                <a:solidFill>
                  <a:srgbClr val="0F2E57"/>
                </a:solidFill>
              </a:rPr>
              <a:t>368名国际化专业人才持续深耕行业，凭借完善的供应链体系提供可靠产品与集成解决方案。
</a:t>
            </a:r>
            <a:r>
              <a:rPr lang="en-US" sz="1000" i="1" dirty="0">
                <a:solidFill>
                  <a:srgbClr val="555555"/>
                </a:solidFill>
              </a:rPr>
              <a:t>368 international professionals continuously cultivate industry expertise, providing reliable products and integrated solutions through a comprehensive supply chain.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19800" y="2194560"/>
            <a:ext cx="2712720" cy="2194560"/>
          </a:xfrm>
          <a:prstGeom prst="roundRect">
            <a:avLst>
              <a:gd name="adj" fmla="val 2500"/>
            </a:avLst>
          </a:prstGeom>
          <a:solidFill>
            <a:srgbClr val="F1F7ED"/>
          </a:solidFill>
          <a:ln w="12700">
            <a:solidFill>
              <a:srgbClr val="F1F7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065520" y="2240280"/>
            <a:ext cx="2621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E57"/>
                </a:solidFill>
              </a:rPr>
              <a:t>可持续发展
</a:t>
            </a:r>
            <a:r>
              <a:rPr lang="en-US" sz="1200" i="1" dirty="0">
                <a:solidFill>
                  <a:srgbClr val="555555"/>
                </a:solidFill>
              </a:rPr>
              <a:t>Sustainability
</a:t>
            </a:r>
            <a:r>
              <a:rPr lang="en-US" sz="1200" dirty="0">
                <a:solidFill>
                  <a:srgbClr val="0F2E57"/>
                </a:solidFill>
              </a:rPr>
              <a:t>平衡经济回报与环境社会责任，为客户、合作伙伴、员工及社区创造长期价值。
</a:t>
            </a:r>
            <a:r>
              <a:rPr lang="en-US" sz="1000" i="1" dirty="0">
                <a:solidFill>
                  <a:srgbClr val="555555"/>
                </a:solidFill>
              </a:rPr>
              <a:t>Balance economic returns with environmental and social responsibilities to create long‑term value for clients, partners, employees and communities.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30A18"/>
                </a:solidFill>
                <a:hlinkClick r:id="rId3"/>
              </a:rPr>
              <a:t>[7]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E57"/>
          </a:solidFill>
          <a:ln w="12700">
            <a:solidFill>
              <a:srgbClr val="0F2E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结束语</a:t>
            </a:r>
            <a:r>
              <a:rPr lang="en-US" sz="2000" b="1" dirty="0">
                <a:solidFill>
                  <a:srgbClr val="2A4F7D"/>
                </a:solidFill>
              </a:rPr>
              <a:t> / </a:t>
            </a:r>
            <a:r>
              <a:rPr lang="en-US" sz="2000" b="1" dirty="0">
                <a:solidFill>
                  <a:srgbClr val="FFFFFF"/>
                </a:solidFill>
              </a:rPr>
              <a:t>Conclusion &amp; Thanks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91440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0175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2E57"/>
                </a:solidFill>
              </a:rPr>
              <a:t>感谢聆听
</a:t>
            </a:r>
            <a:r>
              <a:rPr lang="en-US" sz="2200" i="1" dirty="0">
                <a:solidFill>
                  <a:srgbClr val="0F2E57"/>
                </a:solidFill>
              </a:rPr>
              <a:t>Thank You
</a:t>
            </a:r>
            <a:r>
              <a:rPr lang="en-US" sz="1400" dirty="0">
                <a:solidFill>
                  <a:srgbClr val="0F2E57"/>
                </a:solidFill>
              </a:rPr>
              <a:t>链接全球资源，创造可持续价值
</a:t>
            </a:r>
            <a:r>
              <a:rPr lang="en-US" sz="1200" i="1" dirty="0">
                <a:solidFill>
                  <a:srgbClr val="555555"/>
                </a:solidFill>
              </a:rPr>
              <a:t>Connecting Resources, Creating Sustainable Value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030A18"/>
                </a:solidFill>
                <a:hlinkClick r:id="rId4"/>
              </a:rPr>
              <a:t>[8]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1196</Words>
  <Application>Microsoft Office PowerPoint</Application>
  <PresentationFormat>On-screen Show (16:9)</PresentationFormat>
  <Paragraphs>61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Thinkbook</cp:lastModifiedBy>
  <cp:revision>2</cp:revision>
  <dcterms:created xsi:type="dcterms:W3CDTF">2026-06-10T06:00:26Z</dcterms:created>
  <dcterms:modified xsi:type="dcterms:W3CDTF">2026-06-10T06:10:03Z</dcterms:modified>
</cp:coreProperties>
</file>